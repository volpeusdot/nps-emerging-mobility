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82" autoAdjust="0"/>
    <p:restoredTop sz="94673"/>
  </p:normalViewPr>
  <p:slideViewPr>
    <p:cSldViewPr snapToGrid="0">
      <p:cViewPr varScale="1">
        <p:scale>
          <a:sx n="66" d="100"/>
          <a:sy n="66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DA4AD-F08B-4E9D-AA59-83A7D5DCA59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3DB59-4258-402D-A15A-CF45C06B8B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8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3DB59-4258-402D-A15A-CF45C06B8BC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04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12DE-182D-3709-1F13-CDA0DAF7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DAF35-66C7-3A37-26E8-094E50449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96540-FF86-4269-A6E7-E9F80E19C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4ACC1-16BC-B931-4479-E270EBE3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93DB59-4258-402D-A15A-CF45C06B8BC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6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58831-5928-846F-65BE-58065AD0B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8BB43-29EE-9E18-5BA0-D158F3C6A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FF766-65A3-BC74-E974-0472272C5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6C226-0865-ECDD-C68F-ED27BBB2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2EE57-7639-74C3-1536-CABFC9D5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037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4756-7150-AC3A-AD71-4650A164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08ABE-150A-DA71-EE07-E98A6B1CE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2440-FE40-2063-1818-CCBAE06B4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84C90-9BB6-53B6-F2C3-A9C14A306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09980-570B-C108-294E-24B78F54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0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7C61-D65E-C466-B5EF-13D0834C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E7ADA-006E-8720-15A3-5D751E24F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63152-53CF-87CF-5E5F-6D6A5B1E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F830-F756-CAED-CEA6-C91C3750F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D6F0B-0E16-9C03-FCF8-2F051A8C2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4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457E7-2092-FEEB-5CDA-563B80B13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6882E-C316-5E97-9C84-97FC90A75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406CE-CF2D-3332-E9B5-69D1C2470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86102-D04D-61D0-81E7-5BCCF249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07368-F55E-786F-CC96-CA2A1B17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F8387-9FE2-E41E-679B-7C442594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4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4E94-7FCF-2E87-175D-AD1BD9B8F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437AD-50B7-A8E8-84A4-709C18C29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F1D38-EEB9-3516-85FC-4A14EE804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3BFE7-A2E6-969B-F7FF-F48F5A065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650FEC-8D53-2582-50D9-650EA59B83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3A0DF-0C39-2A6A-5845-AC93773F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D61B2E-2185-9E7D-89BA-5004DAB91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8268B1-BB1E-C89C-03EC-B5B77D642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3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26080-BF4A-BEDF-7AD8-F978B11B7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268D7-29FB-C229-9B19-EB691591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C78F8-0A9E-F822-A505-9112B549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A20E0-549C-A21E-04B0-7783A3BD9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36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AE08C-07F6-0143-335D-773AE239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F0B4C-04BF-FA89-837F-8036198E2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54343-E8C0-F0AE-8705-80E82AE0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94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BE6C-3E1B-0BB6-7A66-BEF27530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1E08-BE00-6C88-F27A-F38DC248F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5BDAA-48C3-4B04-55FB-1286176C85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3C107-7234-6DE9-E5BD-2E45C30A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6C18D-22C6-6BA9-144D-1380DAAFD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1B5A5-0658-EBFA-6165-D1749157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9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B820B-6A4A-B0BC-1FDC-BF241A44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43387-B9AF-5444-BF68-F0A278868D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D2A989-7FF7-6AD3-B543-768262EFC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34328C-D0B9-AD48-0D00-F2D24D16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18ED9-0E51-87C7-6F31-5832C4492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17181-7DB8-F871-0933-D6A3288E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7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6591-8819-FF8E-AA84-14CBAACA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6866C5-52EE-E837-4B8C-B0717F2A0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3797A-741E-D385-022D-94C600D60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CE8DD-F0CB-1026-3E33-948EEDB5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A74E2-50E7-5120-3DA1-6CECF5A1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5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DE4DA-3099-5040-9BEE-2DCD51D0F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781A1-9B7F-A6BE-8B92-1A90C3A2A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CAA5A-17A0-32E5-4DB7-91F555AC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5F84B-B53B-9027-8718-348F794C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5B34C-CF12-6DB5-CE9F-3885151E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64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77EF6E-7BCF-6745-2767-74970740D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9BB94-55E6-9B41-CC14-58C2265D4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65C1E-6B87-3CDD-7D2E-0A5D0C947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91DEA-88DE-47FD-8335-BFD17710452E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CF2A1-9BCD-EB15-B34A-54908AF9E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CD471-14A5-6A9A-3C02-562694A71F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44A60-4116-4589-A514-1F4C27A6B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1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6E2F-F21C-3DFB-7BEE-B88ED82424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Transit Terminal Display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09361-8CED-171C-DAAB-B8B981432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dirty="0"/>
              <a:t>12/4/2025</a:t>
            </a:r>
          </a:p>
        </p:txBody>
      </p:sp>
    </p:spTree>
    <p:extLst>
      <p:ext uri="{BB962C8B-B14F-4D97-AF65-F5344CB8AC3E}">
        <p14:creationId xmlns:p14="http://schemas.microsoft.com/office/powerpoint/2010/main" val="336537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7E17A-4A62-6FC9-B6FB-EB908EAF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Station Server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5A8C6D2-585A-5835-DC69-E2FAB8F9B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637" y="2664624"/>
            <a:ext cx="612502" cy="71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22948F-1997-96E8-CA99-979FC0F83DAB}"/>
              </a:ext>
            </a:extLst>
          </p:cNvPr>
          <p:cNvSpPr txBox="1"/>
          <p:nvPr/>
        </p:nvSpPr>
        <p:spPr>
          <a:xfrm>
            <a:off x="1819244" y="3474915"/>
            <a:ext cx="3183038" cy="1102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 running </a:t>
            </a:r>
          </a:p>
          <a:p>
            <a:r>
              <a:rPr lang="en-US" dirty="0"/>
              <a:t>Custom Python server application accepts TCP/IP connections on port 3141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3E74C5-421A-E8A7-AE90-DC4A8DC1C229}"/>
              </a:ext>
            </a:extLst>
          </p:cNvPr>
          <p:cNvSpPr/>
          <p:nvPr/>
        </p:nvSpPr>
        <p:spPr>
          <a:xfrm>
            <a:off x="1635845" y="2380406"/>
            <a:ext cx="3183038" cy="250562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A4AF2C-20B9-BD63-F4CE-610FDAE0AD3A}"/>
              </a:ext>
            </a:extLst>
          </p:cNvPr>
          <p:cNvCxnSpPr/>
          <p:nvPr/>
        </p:nvCxnSpPr>
        <p:spPr>
          <a:xfrm>
            <a:off x="331304" y="3563106"/>
            <a:ext cx="1298713" cy="1113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ABE6216-9101-3E93-84A8-13A553685682}"/>
              </a:ext>
            </a:extLst>
          </p:cNvPr>
          <p:cNvSpPr txBox="1"/>
          <p:nvPr/>
        </p:nvSpPr>
        <p:spPr>
          <a:xfrm>
            <a:off x="348772" y="3648853"/>
            <a:ext cx="10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TCP/IP 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EA2F26-F915-D68E-19AB-47F668C55CD2}"/>
              </a:ext>
            </a:extLst>
          </p:cNvPr>
          <p:cNvCxnSpPr/>
          <p:nvPr/>
        </p:nvCxnSpPr>
        <p:spPr>
          <a:xfrm>
            <a:off x="4797287" y="3637723"/>
            <a:ext cx="1298713" cy="1113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9CC6B3B-D3C0-8522-50C4-228DD21A256F}"/>
              </a:ext>
            </a:extLst>
          </p:cNvPr>
          <p:cNvSpPr txBox="1"/>
          <p:nvPr/>
        </p:nvSpPr>
        <p:spPr>
          <a:xfrm>
            <a:off x="4882070" y="3648853"/>
            <a:ext cx="10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Serial (UART)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5AC5A4-771C-AB77-B756-7D83140881CC}"/>
              </a:ext>
            </a:extLst>
          </p:cNvPr>
          <p:cNvGrpSpPr/>
          <p:nvPr/>
        </p:nvGrpSpPr>
        <p:grpSpPr>
          <a:xfrm>
            <a:off x="6120431" y="1994981"/>
            <a:ext cx="4208045" cy="2450142"/>
            <a:chOff x="6120431" y="1994981"/>
            <a:chExt cx="4918630" cy="2397586"/>
          </a:xfrm>
        </p:grpSpPr>
        <p:pic>
          <p:nvPicPr>
            <p:cNvPr id="1028" name="Picture 4" descr="undefined">
              <a:extLst>
                <a:ext uri="{FF2B5EF4-FFF2-40B4-BE49-F238E27FC236}">
                  <a16:creationId xmlns:a16="http://schemas.microsoft.com/office/drawing/2014/main" id="{6A2B11E2-4924-EA54-1EF6-77EBF7FF79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87044" y="2372139"/>
              <a:ext cx="825996" cy="5562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undefined">
              <a:extLst>
                <a:ext uri="{FF2B5EF4-FFF2-40B4-BE49-F238E27FC236}">
                  <a16:creationId xmlns:a16="http://schemas.microsoft.com/office/drawing/2014/main" id="{BCF4155C-76BD-99F7-0BCE-4FC7B332EE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4799" y="3574236"/>
              <a:ext cx="1169695" cy="399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B4C11E-AB6F-8372-874D-70BBF34109B3}"/>
                </a:ext>
              </a:extLst>
            </p:cNvPr>
            <p:cNvSpPr/>
            <p:nvPr/>
          </p:nvSpPr>
          <p:spPr>
            <a:xfrm>
              <a:off x="6120431" y="1994981"/>
              <a:ext cx="3819915" cy="2397586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F8B2712-A7A0-9EF8-235E-3396E046E0B8}"/>
                </a:ext>
              </a:extLst>
            </p:cNvPr>
            <p:cNvSpPr txBox="1"/>
            <p:nvPr/>
          </p:nvSpPr>
          <p:spPr>
            <a:xfrm>
              <a:off x="7354957" y="2372139"/>
              <a:ext cx="2585389" cy="33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Arduino MKR WAN 1310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D55404-E820-9E7B-D7D2-A67C368DDE1F}"/>
                </a:ext>
              </a:extLst>
            </p:cNvPr>
            <p:cNvSpPr txBox="1"/>
            <p:nvPr/>
          </p:nvSpPr>
          <p:spPr>
            <a:xfrm>
              <a:off x="7711051" y="2961783"/>
              <a:ext cx="1283327" cy="391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or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F8A8D20-66FF-ED1B-047C-6DBDA1D3A67A}"/>
                </a:ext>
              </a:extLst>
            </p:cNvPr>
            <p:cNvSpPr txBox="1"/>
            <p:nvPr/>
          </p:nvSpPr>
          <p:spPr>
            <a:xfrm>
              <a:off x="7554346" y="3589469"/>
              <a:ext cx="2186609" cy="3312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Feather M0 LoRa95</a:t>
              </a: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F416037-BB04-4467-6AB6-3251CEE23529}"/>
                </a:ext>
              </a:extLst>
            </p:cNvPr>
            <p:cNvCxnSpPr/>
            <p:nvPr/>
          </p:nvCxnSpPr>
          <p:spPr>
            <a:xfrm>
              <a:off x="9940346" y="3428998"/>
              <a:ext cx="7011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8751A4-2BB1-10E4-A2C5-64006E42E7BB}"/>
                </a:ext>
              </a:extLst>
            </p:cNvPr>
            <p:cNvCxnSpPr/>
            <p:nvPr/>
          </p:nvCxnSpPr>
          <p:spPr>
            <a:xfrm flipV="1">
              <a:off x="10641496" y="2543174"/>
              <a:ext cx="0" cy="8858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84B9F3-615F-829D-443F-CD4BF18C57C6}"/>
                </a:ext>
              </a:extLst>
            </p:cNvPr>
            <p:cNvCxnSpPr>
              <a:cxnSpLocks/>
            </p:cNvCxnSpPr>
            <p:nvPr/>
          </p:nvCxnSpPr>
          <p:spPr>
            <a:xfrm>
              <a:off x="10290921" y="2372139"/>
              <a:ext cx="74814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19D2A0B-32AC-8758-AB2B-68B280943C37}"/>
                </a:ext>
              </a:extLst>
            </p:cNvPr>
            <p:cNvCxnSpPr/>
            <p:nvPr/>
          </p:nvCxnSpPr>
          <p:spPr>
            <a:xfrm>
              <a:off x="10290921" y="2372139"/>
              <a:ext cx="350575" cy="3693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A1652F-AFD7-CF5F-ACD3-3B1D1C54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8244" y="2372139"/>
              <a:ext cx="347566" cy="3693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2599BF2-DD60-B99D-45B2-830A9B62EB5F}"/>
              </a:ext>
            </a:extLst>
          </p:cNvPr>
          <p:cNvSpPr txBox="1"/>
          <p:nvPr/>
        </p:nvSpPr>
        <p:spPr>
          <a:xfrm>
            <a:off x="17585" y="5077322"/>
            <a:ext cx="517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$BSTXT,0A,color|green|\ntext|0|Hello World\n*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1FF6A3-D67E-77D0-AF9D-653AD1768EA5}"/>
              </a:ext>
            </a:extLst>
          </p:cNvPr>
          <p:cNvSpPr txBox="1"/>
          <p:nvPr/>
        </p:nvSpPr>
        <p:spPr>
          <a:xfrm>
            <a:off x="6073561" y="5074306"/>
            <a:ext cx="517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$BSTXT,0A,color|green|\ntext|0|Hello World\n*33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1F811-E448-D6EE-6942-194FF00C1218}"/>
              </a:ext>
            </a:extLst>
          </p:cNvPr>
          <p:cNvSpPr txBox="1"/>
          <p:nvPr/>
        </p:nvSpPr>
        <p:spPr>
          <a:xfrm>
            <a:off x="10640291" y="1579418"/>
            <a:ext cx="1302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LoRa RF</a:t>
            </a:r>
          </a:p>
          <a:p>
            <a:r>
              <a:rPr lang="en-US" dirty="0"/>
              <a:t>915MHz</a:t>
            </a:r>
          </a:p>
        </p:txBody>
      </p:sp>
    </p:spTree>
    <p:extLst>
      <p:ext uri="{BB962C8B-B14F-4D97-AF65-F5344CB8AC3E}">
        <p14:creationId xmlns:p14="http://schemas.microsoft.com/office/powerpoint/2010/main" val="236475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C0B31-BAD8-EFAC-55B6-D70B9A10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6B40-D646-70BD-3443-7D0214D3E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534"/>
            <a:ext cx="10515600" cy="1325563"/>
          </a:xfrm>
        </p:spPr>
        <p:txBody>
          <a:bodyPr/>
          <a:lstStyle/>
          <a:p>
            <a:r>
              <a:rPr lang="en-US" dirty="0"/>
              <a:t>Bus Stop Display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001F43-6F88-0C5A-64EF-347B20D9DDAF}"/>
              </a:ext>
            </a:extLst>
          </p:cNvPr>
          <p:cNvCxnSpPr/>
          <p:nvPr/>
        </p:nvCxnSpPr>
        <p:spPr>
          <a:xfrm>
            <a:off x="4536490" y="3952141"/>
            <a:ext cx="1298713" cy="1113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71C5132-4CEA-E11E-5FAE-5E0C1EEA152D}"/>
              </a:ext>
            </a:extLst>
          </p:cNvPr>
          <p:cNvSpPr txBox="1"/>
          <p:nvPr/>
        </p:nvSpPr>
        <p:spPr>
          <a:xfrm>
            <a:off x="4813743" y="4006332"/>
            <a:ext cx="106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Serial (UART)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C0A2DAD-4D3E-8FA7-593B-7B1E0FEE36FB}"/>
              </a:ext>
            </a:extLst>
          </p:cNvPr>
          <p:cNvGrpSpPr/>
          <p:nvPr/>
        </p:nvGrpSpPr>
        <p:grpSpPr>
          <a:xfrm>
            <a:off x="1268431" y="2670511"/>
            <a:ext cx="3285047" cy="2450142"/>
            <a:chOff x="1610957" y="2403905"/>
            <a:chExt cx="3285047" cy="2450142"/>
          </a:xfrm>
        </p:grpSpPr>
        <p:pic>
          <p:nvPicPr>
            <p:cNvPr id="1028" name="Picture 4" descr="undefined">
              <a:extLst>
                <a:ext uri="{FF2B5EF4-FFF2-40B4-BE49-F238E27FC236}">
                  <a16:creationId xmlns:a16="http://schemas.microsoft.com/office/drawing/2014/main" id="{8F8582DD-3FB0-7645-3DC6-2AFAC22EF4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6041" y="2789330"/>
              <a:ext cx="706666" cy="568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undefined">
              <a:extLst>
                <a:ext uri="{FF2B5EF4-FFF2-40B4-BE49-F238E27FC236}">
                  <a16:creationId xmlns:a16="http://schemas.microsoft.com/office/drawing/2014/main" id="{D2C3A2F3-F819-2273-9896-5F16D86F73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1344" y="4017778"/>
              <a:ext cx="1000711" cy="408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7D31C03-D8F4-D959-CA0B-EEF16B2A73A5}"/>
                </a:ext>
              </a:extLst>
            </p:cNvPr>
            <p:cNvSpPr/>
            <p:nvPr/>
          </p:nvSpPr>
          <p:spPr>
            <a:xfrm>
              <a:off x="1610957" y="2403905"/>
              <a:ext cx="3268059" cy="2450142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7378B5-8FB7-2010-3952-594110AAA824}"/>
                </a:ext>
              </a:extLst>
            </p:cNvPr>
            <p:cNvSpPr txBox="1"/>
            <p:nvPr/>
          </p:nvSpPr>
          <p:spPr>
            <a:xfrm>
              <a:off x="2684121" y="2789330"/>
              <a:ext cx="22118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Arduino MKR WAN 1310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58A1B60-B42B-00F9-1494-3F9B397A3D60}"/>
                </a:ext>
              </a:extLst>
            </p:cNvPr>
            <p:cNvSpPr txBox="1"/>
            <p:nvPr/>
          </p:nvSpPr>
          <p:spPr>
            <a:xfrm>
              <a:off x="2988771" y="3391900"/>
              <a:ext cx="10979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or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FCFA750-AFD8-C43E-BEB0-448C48CD824F}"/>
                </a:ext>
              </a:extLst>
            </p:cNvPr>
            <p:cNvSpPr txBox="1"/>
            <p:nvPr/>
          </p:nvSpPr>
          <p:spPr>
            <a:xfrm>
              <a:off x="2854705" y="4033345"/>
              <a:ext cx="18707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Feather M0 LoRa95</a:t>
              </a:r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4B8851-566C-527A-1BC6-68A31BA0EB73}"/>
              </a:ext>
            </a:extLst>
          </p:cNvPr>
          <p:cNvCxnSpPr/>
          <p:nvPr/>
        </p:nvCxnSpPr>
        <p:spPr>
          <a:xfrm>
            <a:off x="682486" y="3895582"/>
            <a:ext cx="59985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18236479-7A47-2D27-2FAD-ED7EE9B1BDDE}"/>
              </a:ext>
            </a:extLst>
          </p:cNvPr>
          <p:cNvGrpSpPr/>
          <p:nvPr/>
        </p:nvGrpSpPr>
        <p:grpSpPr>
          <a:xfrm>
            <a:off x="351120" y="2789329"/>
            <a:ext cx="640058" cy="1080027"/>
            <a:chOff x="6769753" y="2851886"/>
            <a:chExt cx="640058" cy="108002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CE904CC-CA5D-1E9A-4A80-C0D9067515CA}"/>
                </a:ext>
              </a:extLst>
            </p:cNvPr>
            <p:cNvCxnSpPr>
              <a:cxnSpLocks/>
            </p:cNvCxnSpPr>
            <p:nvPr/>
          </p:nvCxnSpPr>
          <p:spPr>
            <a:xfrm>
              <a:off x="6769753" y="2851886"/>
              <a:ext cx="64005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61BCC3B-3261-C112-E284-A3ED8C345D28}"/>
                </a:ext>
              </a:extLst>
            </p:cNvPr>
            <p:cNvGrpSpPr/>
            <p:nvPr/>
          </p:nvGrpSpPr>
          <p:grpSpPr>
            <a:xfrm>
              <a:off x="6801191" y="2851886"/>
              <a:ext cx="585945" cy="1080027"/>
              <a:chOff x="5195932" y="2789330"/>
              <a:chExt cx="585945" cy="1080027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DBEC186B-15B0-3BAD-D95D-AE28861BADC1}"/>
                  </a:ext>
                </a:extLst>
              </p:cNvPr>
              <p:cNvCxnSpPr/>
              <p:nvPr/>
            </p:nvCxnSpPr>
            <p:spPr>
              <a:xfrm flipV="1">
                <a:off x="5495860" y="2964115"/>
                <a:ext cx="0" cy="90524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5EF9CDCD-DB8B-67D1-95E1-28F67D4596EE}"/>
                  </a:ext>
                </a:extLst>
              </p:cNvPr>
              <p:cNvCxnSpPr/>
              <p:nvPr/>
            </p:nvCxnSpPr>
            <p:spPr>
              <a:xfrm>
                <a:off x="5195932" y="2789330"/>
                <a:ext cx="299928" cy="3774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F4A8825-AC51-14F4-878A-0C7B9E7283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84523" y="2789330"/>
                <a:ext cx="297354" cy="37742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002728-4D1A-5920-75B1-12F5BCCEA2AF}"/>
              </a:ext>
            </a:extLst>
          </p:cNvPr>
          <p:cNvGrpSpPr/>
          <p:nvPr/>
        </p:nvGrpSpPr>
        <p:grpSpPr>
          <a:xfrm>
            <a:off x="5815712" y="3395454"/>
            <a:ext cx="1346485" cy="1221756"/>
            <a:chOff x="6309027" y="3078196"/>
            <a:chExt cx="1346485" cy="1221756"/>
          </a:xfrm>
        </p:grpSpPr>
        <p:pic>
          <p:nvPicPr>
            <p:cNvPr id="16" name="Picture 6" descr="undefined">
              <a:extLst>
                <a:ext uri="{FF2B5EF4-FFF2-40B4-BE49-F238E27FC236}">
                  <a16:creationId xmlns:a16="http://schemas.microsoft.com/office/drawing/2014/main" id="{14AB4CC2-E0C3-1F1D-1743-07CE12D19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311" y="3107912"/>
              <a:ext cx="1000711" cy="4085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FB75329-77BF-0FF9-83A3-789667D34057}"/>
                </a:ext>
              </a:extLst>
            </p:cNvPr>
            <p:cNvSpPr txBox="1"/>
            <p:nvPr/>
          </p:nvSpPr>
          <p:spPr>
            <a:xfrm>
              <a:off x="6479311" y="3546190"/>
              <a:ext cx="111318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Matrix Portal M4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98D47B-3A16-FF44-72B8-F1545FF8CFD0}"/>
                </a:ext>
              </a:extLst>
            </p:cNvPr>
            <p:cNvSpPr/>
            <p:nvPr/>
          </p:nvSpPr>
          <p:spPr>
            <a:xfrm>
              <a:off x="6309027" y="3078196"/>
              <a:ext cx="1346485" cy="122175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0C476FF-9D26-9540-7EDC-1E6D3FCDAB2C}"/>
              </a:ext>
            </a:extLst>
          </p:cNvPr>
          <p:cNvCxnSpPr/>
          <p:nvPr/>
        </p:nvCxnSpPr>
        <p:spPr>
          <a:xfrm>
            <a:off x="7162197" y="3957706"/>
            <a:ext cx="1298713" cy="1113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6AB3642-A6D1-41B5-24E1-667AE9D34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910" y="3166757"/>
            <a:ext cx="3210725" cy="1706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81E437-57A6-ABBC-C1C6-8B9CA72EF48F}"/>
              </a:ext>
            </a:extLst>
          </p:cNvPr>
          <p:cNvSpPr txBox="1"/>
          <p:nvPr/>
        </p:nvSpPr>
        <p:spPr>
          <a:xfrm>
            <a:off x="17585" y="5077322"/>
            <a:ext cx="517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$BSTXT,0A,color|green|\ntext|0|Hello World\n*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F9B50-09B7-FC0E-084E-A27BE52D1E03}"/>
              </a:ext>
            </a:extLst>
          </p:cNvPr>
          <p:cNvSpPr txBox="1"/>
          <p:nvPr/>
        </p:nvSpPr>
        <p:spPr>
          <a:xfrm>
            <a:off x="7162197" y="4973782"/>
            <a:ext cx="21619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color|green</a:t>
            </a:r>
            <a:r>
              <a:rPr lang="en-US" dirty="0"/>
              <a:t>|</a:t>
            </a:r>
          </a:p>
          <a:p>
            <a:r>
              <a:rPr lang="en-US" dirty="0"/>
              <a:t>text|0|Hello World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70BCC-4D5D-F882-17A8-4977C56B258B}"/>
              </a:ext>
            </a:extLst>
          </p:cNvPr>
          <p:cNvSpPr txBox="1"/>
          <p:nvPr/>
        </p:nvSpPr>
        <p:spPr>
          <a:xfrm>
            <a:off x="0" y="1722680"/>
            <a:ext cx="1302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LoRa RF</a:t>
            </a:r>
          </a:p>
          <a:p>
            <a:r>
              <a:rPr lang="en-US" dirty="0"/>
              <a:t>915MHz</a:t>
            </a:r>
          </a:p>
        </p:txBody>
      </p:sp>
    </p:spTree>
    <p:extLst>
      <p:ext uri="{BB962C8B-B14F-4D97-AF65-F5344CB8AC3E}">
        <p14:creationId xmlns:p14="http://schemas.microsoft.com/office/powerpoint/2010/main" val="236295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ADB1-439C-7B59-F7B1-5D3D2358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9B0FD-7AA0-61F4-C952-6C7C80C96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 err="1"/>
              <a:t>Basestation</a:t>
            </a:r>
            <a:endParaRPr lang="en-US" b="1" u="sng" dirty="0"/>
          </a:p>
          <a:p>
            <a:pPr lvl="1"/>
            <a:r>
              <a:rPr lang="en-US" dirty="0"/>
              <a:t>Raspberry Pi – </a:t>
            </a:r>
            <a:r>
              <a:rPr lang="en-US" dirty="0" err="1"/>
              <a:t>basestation.py</a:t>
            </a:r>
            <a:endParaRPr lang="en-US" dirty="0"/>
          </a:p>
          <a:p>
            <a:pPr marL="457200" lvl="1" indent="0">
              <a:buNone/>
            </a:pPr>
            <a:r>
              <a:rPr lang="en-US" b="1" dirty="0"/>
              <a:t>Arduino Sketches (LoRa Module)</a:t>
            </a:r>
          </a:p>
          <a:p>
            <a:pPr lvl="1"/>
            <a:r>
              <a:rPr lang="en-US" dirty="0"/>
              <a:t>Feather M0 -  Basestation-Feather-M0.ino</a:t>
            </a:r>
          </a:p>
          <a:p>
            <a:pPr lvl="1"/>
            <a:r>
              <a:rPr lang="en-US" dirty="0"/>
              <a:t>Arduino MKR WAN – 1310 -  Basestation-MKR-WAN-1310.ino</a:t>
            </a:r>
          </a:p>
          <a:p>
            <a:pPr marL="0" indent="0">
              <a:buNone/>
            </a:pPr>
            <a:r>
              <a:rPr lang="en-US" b="1" u="sng" dirty="0"/>
              <a:t>Bus Stop</a:t>
            </a:r>
          </a:p>
          <a:p>
            <a:pPr marL="457200" lvl="1" indent="0">
              <a:buNone/>
            </a:pPr>
            <a:r>
              <a:rPr lang="en-US" b="1" dirty="0"/>
              <a:t>Arduino Sketches (Lora Module)</a:t>
            </a:r>
          </a:p>
          <a:p>
            <a:pPr lvl="1"/>
            <a:r>
              <a:rPr lang="en-US" dirty="0"/>
              <a:t>Feather M0 -  BusStop-Feather-M0.ino</a:t>
            </a:r>
          </a:p>
          <a:p>
            <a:pPr lvl="1"/>
            <a:r>
              <a:rPr lang="en-US" dirty="0"/>
              <a:t>Arduino MKR WAN – 1310 -  BusStop-MKR-WAN-1310.ino</a:t>
            </a:r>
          </a:p>
          <a:p>
            <a:pPr marL="457200" lvl="1" indent="0">
              <a:buNone/>
            </a:pPr>
            <a:r>
              <a:rPr lang="en-US" b="1" dirty="0"/>
              <a:t>Arduino sketches (display) </a:t>
            </a:r>
          </a:p>
          <a:p>
            <a:pPr lvl="1"/>
            <a:r>
              <a:rPr lang="en-US" dirty="0"/>
              <a:t>Matrix-Portal-Display-</a:t>
            </a:r>
            <a:r>
              <a:rPr lang="en-US" dirty="0" err="1"/>
              <a:t>Driver.ino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23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54CA-0B4B-3044-24AE-5DD81849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137D-F1B7-B2E4-2F24-0A919ADE0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BOM</a:t>
            </a:r>
          </a:p>
          <a:p>
            <a:r>
              <a:rPr lang="en-US" dirty="0"/>
              <a:t>Setup of Arduino IDE and programming modules</a:t>
            </a:r>
          </a:p>
          <a:p>
            <a:r>
              <a:rPr lang="en-US" dirty="0"/>
              <a:t>Review of Solar Power system types of connectors</a:t>
            </a:r>
          </a:p>
          <a:p>
            <a:r>
              <a:rPr lang="en-US" dirty="0"/>
              <a:t>Antennas and RF cabling </a:t>
            </a:r>
          </a:p>
          <a:p>
            <a:r>
              <a:rPr lang="en-US" dirty="0"/>
              <a:t>Lightning Protection</a:t>
            </a:r>
          </a:p>
          <a:p>
            <a:r>
              <a:rPr lang="en-US" dirty="0"/>
              <a:t>Use of site survey equipment (hiker)</a:t>
            </a:r>
          </a:p>
          <a:p>
            <a:r>
              <a:rPr lang="en-US" dirty="0"/>
              <a:t>Follow on procurements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593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0110-A4BE-6B58-256D-1F957DA8D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Area and some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ABFEB-C9B4-1B2C-2836-1D7EE33DB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Baud rate vs range </a:t>
            </a:r>
          </a:p>
          <a:p>
            <a:r>
              <a:rPr lang="en-US" dirty="0"/>
              <a:t>Repeat mode (for some bus stops?)</a:t>
            </a:r>
          </a:p>
          <a:p>
            <a:r>
              <a:rPr lang="en-US" dirty="0"/>
              <a:t>Timing of messaging to avoid collisions in repeat mode</a:t>
            </a:r>
          </a:p>
          <a:p>
            <a:r>
              <a:rPr lang="en-US" dirty="0"/>
              <a:t>Acknowledgements (ack) </a:t>
            </a:r>
          </a:p>
          <a:p>
            <a:r>
              <a:rPr lang="en-US" dirty="0"/>
              <a:t>Encryption or RF?  </a:t>
            </a:r>
            <a:r>
              <a:rPr lang="en-US" dirty="0" err="1"/>
              <a:t>tinyAES</a:t>
            </a:r>
            <a:r>
              <a:rPr lang="en-US" dirty="0"/>
              <a:t>?</a:t>
            </a:r>
          </a:p>
          <a:p>
            <a:r>
              <a:rPr lang="en-US" dirty="0"/>
              <a:t>Change LoRa sync word from 0x34 ?</a:t>
            </a:r>
          </a:p>
          <a:p>
            <a:r>
              <a:rPr lang="en-US" dirty="0"/>
              <a:t>Define what stops repeat to….</a:t>
            </a:r>
          </a:p>
          <a:p>
            <a:r>
              <a:rPr lang="en-US" dirty="0"/>
              <a:t>Chassis for base station and Bus Stop displays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293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1511-1DEF-D330-F734-6BBD9283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Site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FF9A-F3A2-FDE9-2A30-E855079A28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Base Station</a:t>
            </a:r>
          </a:p>
          <a:p>
            <a:pPr lvl="1"/>
            <a:r>
              <a:rPr lang="en-US" dirty="0"/>
              <a:t>Mounting antenna</a:t>
            </a:r>
          </a:p>
          <a:p>
            <a:pPr lvl="1"/>
            <a:r>
              <a:rPr lang="en-US" dirty="0"/>
              <a:t>Cable runs</a:t>
            </a:r>
          </a:p>
          <a:p>
            <a:pPr lvl="1"/>
            <a:r>
              <a:rPr lang="en-US" dirty="0"/>
              <a:t>Grounding systems</a:t>
            </a:r>
          </a:p>
          <a:p>
            <a:pPr lvl="1"/>
            <a:r>
              <a:rPr lang="en-US" dirty="0"/>
              <a:t>Power and internet</a:t>
            </a:r>
          </a:p>
          <a:p>
            <a:pPr lvl="1"/>
            <a:r>
              <a:rPr lang="en-US" dirty="0"/>
              <a:t>Mounting base station hardware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D3FAD-1B88-666B-D95E-DFF59E04BF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Bus stop</a:t>
            </a:r>
          </a:p>
          <a:p>
            <a:r>
              <a:rPr lang="en-US" dirty="0"/>
              <a:t>Panel mounting</a:t>
            </a:r>
          </a:p>
          <a:p>
            <a:r>
              <a:rPr lang="en-US" dirty="0"/>
              <a:t>Battery box mounting</a:t>
            </a:r>
          </a:p>
          <a:p>
            <a:r>
              <a:rPr lang="en-US" dirty="0"/>
              <a:t>Bus stop display mounting</a:t>
            </a:r>
          </a:p>
          <a:p>
            <a:r>
              <a:rPr lang="en-US" dirty="0"/>
              <a:t>Cable runs</a:t>
            </a:r>
          </a:p>
          <a:p>
            <a:r>
              <a:rPr lang="en-US" dirty="0"/>
              <a:t>Available power? </a:t>
            </a:r>
          </a:p>
          <a:p>
            <a:r>
              <a:rPr lang="en-US" dirty="0"/>
              <a:t>Security/ vandalism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1466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72D-6814-8C02-310B-03A6583C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LoRa Spectrum (125KHz BW)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E828DC-7B48-F53C-ED1B-F1A97CB0C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239" y="2354424"/>
            <a:ext cx="60960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632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9E72-B3D9-B8E6-90F0-50293D63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– inexpensive LoRa Antenna VSWR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ED8AE72-26E7-9B56-C4EE-A59483998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606" y="1447410"/>
            <a:ext cx="2746829" cy="5022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>
            <a:extLst>
              <a:ext uri="{FF2B5EF4-FFF2-40B4-BE49-F238E27FC236}">
                <a16:creationId xmlns:a16="http://schemas.microsoft.com/office/drawing/2014/main" id="{55CC2D13-0EB3-C6D1-01CC-D5881D4FE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840" y="1453010"/>
            <a:ext cx="3685684" cy="232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29C2C334-5C85-2249-F4D0-6CE8F91F2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840" y="4109042"/>
            <a:ext cx="3685684" cy="2361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762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9AE0FE-A2A5-7555-3288-07F0E5E2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 Station Antenna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A0F7AA-FF66-219B-88EE-DA19E6E07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80" y="1929763"/>
            <a:ext cx="6344535" cy="4563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1DF5FD-DE44-B86A-DC07-DF146CD52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1147444"/>
            <a:ext cx="6344535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3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34F3-6334-D621-C8C8-982AC4B4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Station Antenna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0DAF9F-9A23-467F-A877-A444E9D2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77" y="1957182"/>
            <a:ext cx="6411220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85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4BCD-0105-7377-AB22-558D295D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64E61-6419-73AC-4125-890E8B81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504681"/>
            <a:ext cx="9211961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75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1460</TotalTime>
  <Words>339</Words>
  <Application>Microsoft Office PowerPoint</Application>
  <PresentationFormat>Widescreen</PresentationFormat>
  <Paragraphs>76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Transit Terminal Display</vt:lpstr>
      <vt:lpstr>Base Station Server</vt:lpstr>
      <vt:lpstr>Bus Stop Display</vt:lpstr>
      <vt:lpstr>Software Components</vt:lpstr>
      <vt:lpstr>Next Week</vt:lpstr>
      <vt:lpstr>Discussion Area and some next steps</vt:lpstr>
      <vt:lpstr>Site Survey</vt:lpstr>
      <vt:lpstr>LoRa Spectrum (125KHz BW) </vt:lpstr>
      <vt:lpstr>Amazon – inexpensive LoRa Antenna VSWR</vt:lpstr>
      <vt:lpstr>Transit Station Antenna</vt:lpstr>
      <vt:lpstr>Base Station Antenna</vt:lpstr>
      <vt:lpstr>PowerPoint Presentation</vt:lpstr>
    </vt:vector>
  </TitlesOfParts>
  <Company>U.S DOT - Volpe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Wychorski, Henry (Volpe)</dc:creator>
  <cp:lastModifiedBy>Wychorski, Henry (Volpe)</cp:lastModifiedBy>
  <cp:revision>5</cp:revision>
  <dcterms:created xsi:type="dcterms:W3CDTF">2025-12-05T00:02:22Z</dcterms:created>
  <dcterms:modified xsi:type="dcterms:W3CDTF">2025-12-10T15:57:45Z</dcterms:modified>
</cp:coreProperties>
</file>